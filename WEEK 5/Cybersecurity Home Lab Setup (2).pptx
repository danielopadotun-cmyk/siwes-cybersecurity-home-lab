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9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24337"/>
            <a:ext cx="8572500" cy="1017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224337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57712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49" y="4557712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99" y="4557712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616571"/>
            <a:ext cx="1071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0B981"/>
                </a:solidFill>
                <a:latin typeface="Fira Code"/>
              </a:rPr>
              <a:t>INFRASTRUCTURE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68996"/>
            <a:ext cx="9101137" cy="1359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Arial" panose="020B0604020202020204" pitchFamily="34" charset="0"/>
              </a:rPr>
              <a:t>Group Cybersecurity Home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462337"/>
            <a:ext cx="1125140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Fira Code"/>
              </a:rPr>
              <a:t>Attack, Defend &amp;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38662"/>
            <a:ext cx="1471557" cy="207749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Arial" panose="020B0604020202020204" pitchFamily="34" charset="0"/>
              </a:rPr>
              <a:t>Core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14887"/>
            <a:ext cx="274959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94A3B8"/>
                </a:solidFill>
                <a:latin typeface="Arial" panose="020B0604020202020204" pitchFamily="34" charset="0"/>
              </a:rPr>
              <a:t>Build a functional lab for offensive testing and central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8749" y="4538662"/>
            <a:ext cx="1279196" cy="207749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Arial" panose="020B0604020202020204" pitchFamily="34" charset="0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8749" y="4814887"/>
            <a:ext cx="274959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94A3B8"/>
                </a:solidFill>
                <a:latin typeface="Arial" panose="020B0604020202020204" pitchFamily="34" charset="0"/>
              </a:rPr>
              <a:t>Monitor network traffic and security events in real-time.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99" y="4538662"/>
            <a:ext cx="769441" cy="207749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Arial" panose="020B0604020202020204" pitchFamily="34" charset="0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99" y="4814887"/>
            <a:ext cx="274959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94A3B8"/>
                </a:solidFill>
                <a:latin typeface="Arial" panose="020B0604020202020204" pitchFamily="34" charset="0"/>
              </a:rPr>
              <a:t>Isolated virtual network for safe traffic generation and discovery.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328862"/>
            <a:ext cx="10668000" cy="2038350"/>
          </a:xfrm>
          <a:prstGeom prst="roundRect">
            <a:avLst>
              <a:gd name="adj" fmla="val 5607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748212"/>
            <a:ext cx="10668000" cy="1295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748212"/>
            <a:ext cx="3810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0" y="3338512"/>
            <a:ext cx="208597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2719387"/>
            <a:ext cx="5334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3338512"/>
            <a:ext cx="2085975" cy="19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719387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075" y="2719387"/>
            <a:ext cx="6858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612" y="3109912"/>
            <a:ext cx="685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876300"/>
            <a:ext cx="523906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Lab Architecture &amp; 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VirtualBox Bridged Network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4976812"/>
            <a:ext cx="1108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Fira Code"/>
              </a:rPr>
              <a:t>Bridged Adapter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5281612"/>
            <a:ext cx="10115550" cy="24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F8FAFC"/>
                </a:solidFill>
                <a:latin typeface="Arial" panose="020B0604020202020204" pitchFamily="34" charset="0"/>
              </a:rPr>
              <a:t>Assigns individual local IPs directly from the router, enabling seamless inter-VM communication on a single subnet.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6565" y="3481387"/>
            <a:ext cx="9169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Kali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2896" y="3786187"/>
            <a:ext cx="5642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Attacker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348" y="3481387"/>
            <a:ext cx="133530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Metasploitable</a:t>
            </a:r>
            <a:endParaRPr sz="1500" b="1" i="0" u="none" dirty="0">
              <a:solidFill>
                <a:srgbClr val="0F172A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82512" y="3786187"/>
            <a:ext cx="4269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1153" y="3481387"/>
            <a:ext cx="61164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Wazuh</a:t>
            </a:r>
            <a:endParaRPr sz="1500" b="1" i="0" u="none" dirty="0">
              <a:solidFill>
                <a:srgbClr val="0F172A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32336" y="3786187"/>
            <a:ext cx="11092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Security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438400"/>
            <a:ext cx="3733800" cy="3495675"/>
          </a:xfrm>
          <a:prstGeom prst="roundRect">
            <a:avLst>
              <a:gd name="adj" fmla="val 4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05400" y="2586037"/>
            <a:ext cx="63246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05400" y="3729037"/>
            <a:ext cx="63246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05400" y="4872037"/>
            <a:ext cx="63246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05400" y="2586037"/>
            <a:ext cx="3810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05400" y="3729037"/>
            <a:ext cx="3810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05400" y="4872037"/>
            <a:ext cx="381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2895600"/>
            <a:ext cx="1000125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876300"/>
            <a:ext cx="464229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Component 1 - Kali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The Offensive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613" y="4267200"/>
            <a:ext cx="222657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Attacker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705350"/>
            <a:ext cx="352425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64748B"/>
                </a:solidFill>
                <a:latin typeface="Arial" panose="020B0604020202020204" pitchFamily="34" charset="0"/>
              </a:rPr>
              <a:t>Specialized Linux OS optimized for ethical hacking and deep security auditing.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8300" y="2890837"/>
            <a:ext cx="1428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Fira Code"/>
              </a:rPr>
              <a:t>nmap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2890837"/>
            <a:ext cx="3694922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334155"/>
                </a:solidFill>
                <a:latin typeface="Arial" panose="020B0604020202020204" pitchFamily="34" charset="0"/>
              </a:rPr>
              <a:t>Network discovery and open port scanning.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8300" y="4033837"/>
            <a:ext cx="1428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Fira Code"/>
              </a:rPr>
              <a:t>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4033837"/>
            <a:ext cx="3186513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334155"/>
                </a:solidFill>
                <a:latin typeface="Arial" panose="020B0604020202020204" pitchFamily="34" charset="0"/>
              </a:rPr>
              <a:t>ICMP reachability and uptime testing.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8300" y="5176837"/>
            <a:ext cx="1428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Fira Code"/>
              </a:rPr>
              <a:t>metasploit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5176837"/>
            <a:ext cx="3821559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334155"/>
                </a:solidFill>
                <a:latin typeface="Arial" panose="020B0604020202020204" pitchFamily="34" charset="0"/>
              </a:rPr>
              <a:t>Exploitation framework for launching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0075" y="1242060"/>
            <a:ext cx="51435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24575" y="1242060"/>
            <a:ext cx="51435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0075" y="4185285"/>
            <a:ext cx="51435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24575" y="4185285"/>
            <a:ext cx="51435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69926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169926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4642485"/>
            <a:ext cx="4000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4642485"/>
            <a:ext cx="3429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414337"/>
            <a:ext cx="575638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Component 2 - </a:t>
            </a:r>
            <a:r>
              <a:rPr sz="30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Metasploitable</a:t>
            </a:r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18210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Fira Code"/>
              </a:rPr>
              <a:t>The Vulnerable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2385060"/>
            <a:ext cx="5001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2813685"/>
            <a:ext cx="4324350" cy="24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Intentionally vulnerable target designed for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2385060"/>
            <a:ext cx="197490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Operating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2813685"/>
            <a:ext cx="2978379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Legacy Ubuntu Linux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5328285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5756910"/>
            <a:ext cx="4324350" cy="515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Safe, legal network target pre-configured with known vulnerabilities.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5328285"/>
            <a:ext cx="13208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5756910"/>
            <a:ext cx="4324350" cy="515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Operates openly without monitoring agent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047875"/>
            <a:ext cx="10668000" cy="704850"/>
          </a:xfrm>
          <a:prstGeom prst="roundRect">
            <a:avLst>
              <a:gd name="adj" fmla="val 1081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209925"/>
            <a:ext cx="3352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19600" y="3209925"/>
            <a:ext cx="3352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3209925"/>
            <a:ext cx="3352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09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3590925"/>
            <a:ext cx="4000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59092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876300"/>
            <a:ext cx="494090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Component 3 - </a:t>
            </a:r>
            <a:r>
              <a:rPr sz="30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Wazuh</a:t>
            </a:r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The Security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276475"/>
            <a:ext cx="780983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3730A3"/>
                </a:solidFill>
                <a:latin typeface="Arial" panose="020B0604020202020204" pitchFamily="34" charset="0"/>
              </a:rPr>
              <a:t>Security Information and Event Management (SIEM) for real-time log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4250" y="4276725"/>
            <a:ext cx="17482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Wazuh</a:t>
            </a:r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705350"/>
            <a:ext cx="32385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Central engine analyzing incoming log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970" y="4276725"/>
            <a:ext cx="162005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Wazuh</a:t>
            </a:r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Indexer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4705350"/>
            <a:ext cx="32385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Search engine and storage for security logs.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1209" y="4276725"/>
            <a:ext cx="20047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  <a:latin typeface="Arial" panose="020B0604020202020204" pitchFamily="34" charset="0"/>
              </a:rPr>
              <a:t>Wazuh</a:t>
            </a:r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4350" y="4705350"/>
            <a:ext cx="32385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Web GUI for visual threat monitoring and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81750" y="2124075"/>
            <a:ext cx="5048250" cy="4124325"/>
          </a:xfrm>
          <a:prstGeom prst="roundRect">
            <a:avLst>
              <a:gd name="adj" fmla="val 277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275" y="3767137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81325"/>
            <a:ext cx="3048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05250"/>
            <a:ext cx="3048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29175"/>
            <a:ext cx="38100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876300"/>
            <a:ext cx="422500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VirtualBox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Metasploitable 2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9475" y="4376737"/>
            <a:ext cx="4191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Fira Code"/>
              </a:rPr>
              <a:t>[ Insert VirtualBox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952750"/>
            <a:ext cx="167994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Disk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305175"/>
            <a:ext cx="3533018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Downloaded and extracted the .</a:t>
            </a:r>
            <a:r>
              <a:rPr sz="1500" b="0" i="0" u="none" dirty="0" err="1">
                <a:solidFill>
                  <a:srgbClr val="475569"/>
                </a:solidFill>
                <a:latin typeface="Arial" panose="020B0604020202020204" pitchFamily="34" charset="0"/>
              </a:rPr>
              <a:t>vmdk</a:t>
            </a: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3876675"/>
            <a:ext cx="197913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Direct Attachment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229100"/>
            <a:ext cx="4044377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Attached disk directly to bypass OS installation.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192360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Network Bridging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53025"/>
            <a:ext cx="3351430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Configured settings to Bridged Adapter.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F92A6D-E9FC-9CD2-40FA-68694DF43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2141830"/>
            <a:ext cx="5048250" cy="4106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124075"/>
            <a:ext cx="5791200" cy="4124325"/>
          </a:xfrm>
          <a:prstGeom prst="roundRect">
            <a:avLst>
              <a:gd name="adj" fmla="val 277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62800" y="2876550"/>
            <a:ext cx="1905000" cy="628650"/>
          </a:xfrm>
          <a:prstGeom prst="roundRect">
            <a:avLst>
              <a:gd name="adj" fmla="val 1212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3767137"/>
            <a:ext cx="5143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876300"/>
            <a:ext cx="402033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Network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Metasploitable 2 IP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5975" y="4376737"/>
            <a:ext cx="3929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Fira Code"/>
              </a:rPr>
              <a:t>[ Insert ifconfig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2524125"/>
            <a:ext cx="5029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Fira Code"/>
              </a:rPr>
              <a:t>COMMAND EXECUTED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0" y="2990850"/>
            <a:ext cx="1543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0F172A"/>
                </a:solidFill>
                <a:latin typeface="Fira Code"/>
              </a:rPr>
              <a:t>Ip </a:t>
            </a:r>
            <a:r>
              <a:rPr lang="en-US" sz="2400" b="1" i="0" u="none" dirty="0" err="1">
                <a:solidFill>
                  <a:srgbClr val="0F172A"/>
                </a:solidFill>
                <a:latin typeface="Fira Code"/>
              </a:rPr>
              <a:t>addr</a:t>
            </a:r>
            <a:endParaRPr sz="2400" b="1" i="0" u="none" dirty="0">
              <a:solidFill>
                <a:srgbClr val="0F172A"/>
              </a:solidFill>
              <a:latin typeface="Fira Cod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62800" y="3886200"/>
            <a:ext cx="9746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2800" y="4276725"/>
            <a:ext cx="4362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Displays active network interfaces and connections.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2800" y="5191125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0" y="5581650"/>
            <a:ext cx="3803670" cy="2457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Identifies target IP address for attack aiming.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3A6D48-0F4C-D503-F525-1113700AE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39" y="2155030"/>
            <a:ext cx="5779946" cy="4093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38800" y="2124075"/>
            <a:ext cx="5791200" cy="4124325"/>
          </a:xfrm>
          <a:prstGeom prst="roundRect">
            <a:avLst>
              <a:gd name="adj" fmla="val 277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743200"/>
            <a:ext cx="1181100" cy="628650"/>
          </a:xfrm>
          <a:prstGeom prst="roundRect">
            <a:avLst>
              <a:gd name="adj" fmla="val 1212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225" y="3767137"/>
            <a:ext cx="5143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876300"/>
            <a:ext cx="402033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Network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Wazuh OVA IP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2325" y="4376737"/>
            <a:ext cx="3405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Fira Code"/>
              </a:rPr>
              <a:t>[ Insert ip 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90775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Fira Code"/>
              </a:rPr>
              <a:t>COMMAND EXECUTED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857500"/>
            <a:ext cx="819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Fira Code"/>
              </a:rPr>
              <a:t>ip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752850"/>
            <a:ext cx="9746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43375"/>
            <a:ext cx="4362450" cy="24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Modern utility listing network interfaces and 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057775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448300"/>
            <a:ext cx="4362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Locates management IP for dashboard browser access.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69FB20-5B23-CFC3-0F04-2FAE1908F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124074"/>
            <a:ext cx="5791200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438400"/>
            <a:ext cx="4267200" cy="71716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259740"/>
            <a:ext cx="4267200" cy="81057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448962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Connectivity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811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Ping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85975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Fira Code"/>
              </a:rPr>
              <a:t>COMMANDS EXECUTED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32102"/>
            <a:ext cx="40576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F172A"/>
                </a:solidFill>
                <a:latin typeface="Fira Code"/>
              </a:rPr>
              <a:t>ping [</a:t>
            </a:r>
            <a:r>
              <a:rPr sz="1800" b="0" i="0" u="none" dirty="0" err="1">
                <a:solidFill>
                  <a:srgbClr val="0F172A"/>
                </a:solidFill>
                <a:latin typeface="Fira Code"/>
              </a:rPr>
              <a:t>Metasploitable</a:t>
            </a:r>
            <a:r>
              <a:rPr sz="1800" b="0" i="0" u="none" dirty="0">
                <a:solidFill>
                  <a:srgbClr val="0F172A"/>
                </a:solidFill>
                <a:latin typeface="Fira Code"/>
              </a:rPr>
              <a:t> IP]</a:t>
            </a:r>
            <a:r>
              <a:rPr lang="en-US" sz="1800" b="0" i="0" u="none" dirty="0">
                <a:solidFill>
                  <a:srgbClr val="0F172A"/>
                </a:solidFill>
                <a:latin typeface="Fira Code"/>
              </a:rPr>
              <a:t> 192.168.56.102</a:t>
            </a:r>
            <a:endParaRPr sz="1800" b="0" i="0" u="none" dirty="0">
              <a:solidFill>
                <a:srgbClr val="0F172A"/>
              </a:solidFill>
              <a:latin typeface="Fira Cod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412140"/>
            <a:ext cx="40576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F172A"/>
                </a:solidFill>
                <a:latin typeface="Fira Code"/>
              </a:rPr>
              <a:t>ping [</a:t>
            </a:r>
            <a:r>
              <a:rPr sz="1800" b="0" i="0" u="none" dirty="0" err="1">
                <a:solidFill>
                  <a:srgbClr val="0F172A"/>
                </a:solidFill>
                <a:latin typeface="Fira Code"/>
              </a:rPr>
              <a:t>Wazuh</a:t>
            </a:r>
            <a:r>
              <a:rPr sz="1800" b="0" i="0" u="none" dirty="0">
                <a:solidFill>
                  <a:srgbClr val="0F172A"/>
                </a:solidFill>
                <a:latin typeface="Fira Code"/>
              </a:rPr>
              <a:t> IP]</a:t>
            </a:r>
            <a:r>
              <a:rPr lang="en-US" sz="1800" b="0" i="0" u="none" dirty="0">
                <a:solidFill>
                  <a:srgbClr val="0F172A"/>
                </a:solidFill>
                <a:latin typeface="Fira Code"/>
              </a:rPr>
              <a:t> 192.168.56.101</a:t>
            </a:r>
            <a:endParaRPr sz="1800" b="0" i="0" u="none" dirty="0">
              <a:solidFill>
                <a:srgbClr val="0F172A"/>
              </a:solidFill>
              <a:latin typeface="Fira Code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0" y="4114800"/>
            <a:ext cx="9746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505325"/>
            <a:ext cx="4362450" cy="245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Sends ICMP Echo Requests to verify connectivity.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419725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810250"/>
            <a:ext cx="4362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Ensures all machines can communicate before scanning.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88D953-E7DC-47DD-0E38-47218BAE4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4195"/>
            <a:ext cx="5670648" cy="3100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D6AE7A-75A8-A665-74AB-44FC5509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19760"/>
            <a:ext cx="5685711" cy="2885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570607"/>
            <a:ext cx="5181600" cy="1909762"/>
          </a:xfrm>
          <a:prstGeom prst="roundRect">
            <a:avLst>
              <a:gd name="adj" fmla="val 59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70607"/>
            <a:ext cx="5181600" cy="1909762"/>
          </a:xfrm>
          <a:prstGeom prst="roundRect">
            <a:avLst>
              <a:gd name="adj" fmla="val 59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570607"/>
            <a:ext cx="5181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2570607"/>
            <a:ext cx="5181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876300"/>
            <a:ext cx="614463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Key Takeaways &amp; Lessons Learnt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192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Fira Code"/>
              </a:rPr>
              <a:t>Lab Insights and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89707"/>
            <a:ext cx="24750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Isolated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8332"/>
            <a:ext cx="451485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Bridged networking provides safe, isolated spaces for offensive technique practice.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89707"/>
            <a:ext cx="20476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Arial" panose="020B0604020202020204" pitchFamily="34" charset="0"/>
              </a:rPr>
              <a:t>Visibility is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18332"/>
            <a:ext cx="451485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</a:rPr>
              <a:t>Centralized SIEM logging exposes network scans and attacks in real-time.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71804" y="2813447"/>
            <a:ext cx="4648391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600" b="1" i="0" u="none" dirty="0">
                <a:solidFill>
                  <a:srgbClr val="F8FAFC"/>
                </a:solidFill>
                <a:latin typeface="Arial" panose="020B0604020202020204" pitchFamily="34" charset="0"/>
              </a:rPr>
              <a:t>Thank</a:t>
            </a:r>
            <a:r>
              <a:rPr lang="en-US" sz="8000" b="1" dirty="0">
                <a:solidFill>
                  <a:srgbClr val="F8FAFC"/>
                </a:solidFill>
                <a:latin typeface="Arial" panose="020B0604020202020204" pitchFamily="34" charset="0"/>
              </a:rPr>
              <a:t> </a:t>
            </a:r>
            <a:r>
              <a:rPr sz="8000" b="1" i="0" u="none" dirty="0">
                <a:solidFill>
                  <a:srgbClr val="F8FAFC"/>
                </a:solidFill>
                <a:latin typeface="Arial" panose="020B0604020202020204" pitchFamily="34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398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Alimo Hagos</cp:lastModifiedBy>
  <cp:revision>3</cp:revision>
  <dcterms:created xsi:type="dcterms:W3CDTF">2013-01-27T09:14:16Z</dcterms:created>
  <dcterms:modified xsi:type="dcterms:W3CDTF">2026-10-08T23:19:46Z</dcterms:modified>
  <cp:category/>
</cp:coreProperties>
</file>