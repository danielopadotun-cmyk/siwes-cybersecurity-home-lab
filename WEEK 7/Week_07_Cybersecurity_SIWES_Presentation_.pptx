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61" autoAdjust="0"/>
  </p:normalViewPr>
  <p:slideViewPr>
    <p:cSldViewPr snapToGrid="0" snapToObjects="1">
      <p:cViewPr>
        <p:scale>
          <a:sx n="47" d="100"/>
          <a:sy n="47" d="100"/>
        </p:scale>
        <p:origin x="86" y="114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1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3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04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9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9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82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8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4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6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3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9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83508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WEEK </a:t>
            </a:r>
            <a:r>
              <a:rPr lang="en-US" dirty="0"/>
              <a:t>7 </a:t>
            </a:r>
            <a:r>
              <a:rPr dirty="0"/>
              <a:t>SIWES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ETHICAL RECONNAISSANCE • OSINT AND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59191"/>
            <a:ext cx="10535478" cy="5445593"/>
          </a:xfrm>
          <a:prstGeom prst="rect">
            <a:avLst/>
          </a:prstGeom>
          <a:noFill/>
        </p:spPr>
        <p:txBody>
          <a:bodyPr vert="horz" wrap="square" lIns="0" tIns="73152" rIns="4572000" bIns="36576" anchor="ctr" anchorCtr="1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E2E8F0"/>
                </a:solidFill>
                <a:latin typeface="Aptos"/>
              </a:defRPr>
            </a:pPr>
            <a:r>
              <a:rPr sz="3200" dirty="0"/>
              <a:t>Case study: Axia</a:t>
            </a:r>
            <a:r>
              <a:rPr lang="en-US" sz="3200" dirty="0"/>
              <a:t>  </a:t>
            </a:r>
            <a:r>
              <a:rPr sz="3200" dirty="0"/>
              <a:t>Hub (using publicly available information and an instructor-provided target IP)</a:t>
            </a:r>
          </a:p>
          <a:p>
            <a:pPr>
              <a:spcAft>
                <a:spcPts val="800"/>
              </a:spcAft>
              <a:defRPr sz="2100" b="0">
                <a:solidFill>
                  <a:srgbClr val="E2E8F0"/>
                </a:solidFill>
                <a:latin typeface="Aptos"/>
              </a:defRPr>
            </a:pPr>
            <a:r>
              <a:rPr sz="3200" dirty="0"/>
              <a:t>Prepared by: </a:t>
            </a:r>
            <a:r>
              <a:rPr lang="en-US" sz="3200" dirty="0"/>
              <a:t>DANIEL OPADOTUN.</a:t>
            </a:r>
            <a:endParaRPr sz="3200" dirty="0"/>
          </a:p>
          <a:p>
            <a:pPr>
              <a:spcAft>
                <a:spcPts val="800"/>
              </a:spcAft>
              <a:defRPr sz="2100" b="0">
                <a:solidFill>
                  <a:srgbClr val="E2E8F0"/>
                </a:solidFill>
                <a:latin typeface="Aptos"/>
              </a:defRPr>
            </a:pPr>
            <a:r>
              <a:rPr lang="en-US" sz="3200" dirty="0"/>
              <a:t>Institution: UNIVERSITY OF JOS.</a:t>
            </a:r>
          </a:p>
          <a:p>
            <a:pPr>
              <a:spcAft>
                <a:spcPts val="800"/>
              </a:spcAft>
              <a:defRPr sz="2100" b="0">
                <a:solidFill>
                  <a:srgbClr val="E2E8F0"/>
                </a:solidFill>
                <a:latin typeface="Aptos"/>
              </a:defRPr>
            </a:pPr>
            <a:r>
              <a:rPr sz="3200" dirty="0"/>
              <a:t>Presentation date: 23</a:t>
            </a:r>
            <a:r>
              <a:rPr lang="en-US" sz="3200" baseline="30000" dirty="0"/>
              <a:t>rd</a:t>
            </a:r>
            <a:r>
              <a:rPr lang="en-US" sz="3200" dirty="0"/>
              <a:t> </a:t>
            </a:r>
            <a:r>
              <a:rPr sz="3200" dirty="0"/>
              <a:t> October 2026</a:t>
            </a:r>
          </a:p>
          <a:p>
            <a:pPr>
              <a:spcAft>
                <a:spcPts val="800"/>
              </a:spcAft>
              <a:defRPr sz="2100" b="0">
                <a:solidFill>
                  <a:srgbClr val="E2E8F0"/>
                </a:solidFill>
                <a:latin typeface="Aptos"/>
              </a:defRPr>
            </a:pPr>
            <a:r>
              <a:rPr lang="en-US" sz="3200" dirty="0"/>
              <a:t>I</a:t>
            </a:r>
            <a:r>
              <a:rPr sz="3200" dirty="0"/>
              <a:t>nformation gathering, basic port scanning, interpreting results, and 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6053" y="6473952"/>
            <a:ext cx="20425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rPr dirty="0"/>
              <a:t>CYBERSECURITY SIWES • WEEK </a:t>
            </a:r>
            <a:r>
              <a:rPr lang="en-US" dirty="0"/>
              <a:t>7</a:t>
            </a:r>
            <a:r>
              <a:rPr dirty="0"/>
              <a:t> •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16157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1. Project</a:t>
            </a:r>
            <a:r>
              <a:rPr lang="en-US" dirty="0"/>
              <a:t> </a:t>
            </a:r>
            <a:r>
              <a:rPr dirty="0"/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What reconnaissance means and what this exercise aimed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4953151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Reconnaissance is the information-gathering stage of a security assessment. It helps an analyst understand a target before deciding what additional testing is appropriate.</a:t>
            </a:r>
          </a:p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OSINT (Open-Source Intelligence) uses information that is publicly available, such as an organi</a:t>
            </a:r>
            <a:r>
              <a:rPr lang="en-US" sz="2400" dirty="0"/>
              <a:t>z</a:t>
            </a:r>
            <a:r>
              <a:rPr sz="2400" dirty="0"/>
              <a:t>ation’s official website and public company profile.</a:t>
            </a:r>
          </a:p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Nmap is a network exploration tool used to identify hosts, examine selected ports, and collect limited information about network services.</a:t>
            </a:r>
          </a:p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Objectives: review Axia</a:t>
            </a:r>
            <a:r>
              <a:rPr lang="en-US" sz="2400" dirty="0"/>
              <a:t> </a:t>
            </a:r>
            <a:r>
              <a:rPr sz="2400" dirty="0"/>
              <a:t>Hub’s public-facing information; learn common Nmap command options; test only the instructor-provided target and selected ports where authori</a:t>
            </a:r>
            <a:r>
              <a:rPr lang="en-US" sz="2400" dirty="0"/>
              <a:t>z</a:t>
            </a:r>
            <a:r>
              <a:rPr sz="2400" dirty="0"/>
              <a:t>ed; interpret the output accurately; and document limitations.</a:t>
            </a:r>
          </a:p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Expected learning outcome: explain what the evidence supports—and avoid claiming that a filtered port is open, closed, or vulnerable.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6053" y="6473952"/>
            <a:ext cx="20425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rPr dirty="0"/>
              <a:t>CYBERSECURITY SIWES • WEEK </a:t>
            </a:r>
            <a:r>
              <a:rPr lang="en-US" dirty="0"/>
              <a:t>7 </a:t>
            </a:r>
            <a:r>
              <a:rPr dirty="0"/>
              <a:t>•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496341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3. OSINT findings about </a:t>
            </a:r>
            <a:r>
              <a:rPr dirty="0" err="1"/>
              <a:t>AxiaHu</a:t>
            </a:r>
            <a:r>
              <a:rPr lang="en-US" dirty="0" err="1"/>
              <a:t>B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Public information reviewed for the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4009303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sz="2000" dirty="0"/>
              <a:t>Official homepage: describes Axia</a:t>
            </a:r>
            <a:r>
              <a:rPr lang="en-US" sz="2000" dirty="0"/>
              <a:t> </a:t>
            </a:r>
            <a:r>
              <a:rPr sz="2000" dirty="0"/>
              <a:t>Hub as a technology and innovation hub and lists activities such as training, coworking, startup incubation, talent outsourcing and community initiatives.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sz="2000" dirty="0"/>
              <a:t>About page: describes initiatives involving university partnerships, high-school impact, startup incubation and job placement.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sz="2000" dirty="0"/>
              <a:t>Technology focus: cybersecurity is listed among the technology skills or areas highlighted by the organi</a:t>
            </a:r>
            <a:r>
              <a:rPr lang="en-US" sz="2000" dirty="0"/>
              <a:t>z</a:t>
            </a:r>
            <a:r>
              <a:rPr sz="2000" dirty="0"/>
              <a:t>ation.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sz="2000" dirty="0"/>
              <a:t>Contact page: publishes a location in Jos, Plateau State, and business contact details.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sz="2000" dirty="0"/>
              <a:t>Cross-check: a public LinkedIn company profile also associates Axia</a:t>
            </a:r>
            <a:r>
              <a:rPr lang="en-US" sz="2000" dirty="0"/>
              <a:t> </a:t>
            </a:r>
            <a:r>
              <a:rPr sz="2000" dirty="0"/>
              <a:t>Hub with IT services </a:t>
            </a:r>
            <a:r>
              <a:rPr lang="en-US" sz="2000" dirty="0"/>
              <a:t>in </a:t>
            </a:r>
            <a:r>
              <a:rPr sz="2000" dirty="0"/>
              <a:t>Jos, Plateau State.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sz="2000" dirty="0"/>
              <a:t>Confidence and limitation: these are observations about what public pages state. Self-published claims were not independently audited, and third-party profiles can become outdated.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6053" y="6473952"/>
            <a:ext cx="20425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rPr dirty="0"/>
              <a:t>CYBERSECURITY SIWES • WEEK </a:t>
            </a:r>
            <a:r>
              <a:rPr lang="en-US" dirty="0"/>
              <a:t>7 </a:t>
            </a:r>
            <a:r>
              <a:rPr dirty="0"/>
              <a:t>• 4/12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4. Nmap setup and command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Screenshots 1, 2 and 5: tool setup and help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44168"/>
            <a:ext cx="4532923" cy="4953151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dirty="0"/>
              <a:t>The screenshot reports Nmap 7.92 on a 64-bit Linux environment. This confirms the installed tool version visible at the time of capture.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dirty="0"/>
              <a:t>The `</a:t>
            </a:r>
            <a:r>
              <a:rPr dirty="0" err="1"/>
              <a:t>nmap</a:t>
            </a:r>
            <a:r>
              <a:rPr dirty="0"/>
              <a:t> -h` help output documents valid command syntax and available features. It is reference information, not proof that every listed feature was executed.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dirty="0"/>
              <a:t>`-</a:t>
            </a:r>
            <a:r>
              <a:rPr dirty="0" err="1"/>
              <a:t>sT</a:t>
            </a:r>
            <a:r>
              <a:rPr dirty="0"/>
              <a:t>` selects a TCP connect scan; `-</a:t>
            </a:r>
            <a:r>
              <a:rPr dirty="0" err="1"/>
              <a:t>Pn</a:t>
            </a:r>
            <a:r>
              <a:rPr dirty="0"/>
              <a:t>` skips host discovery and treats the target as online for scanning; `-p 80,443` limits the scan to those two ports.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dirty="0"/>
              <a:t>`-</a:t>
            </a:r>
            <a:r>
              <a:rPr dirty="0" err="1"/>
              <a:t>oN</a:t>
            </a:r>
            <a:r>
              <a:rPr dirty="0"/>
              <a:t> filename.txt` saves results in normal text format. The filename must come immediately after `-</a:t>
            </a:r>
            <a:r>
              <a:rPr dirty="0" err="1"/>
              <a:t>oN</a:t>
            </a:r>
            <a:r>
              <a:rPr dirty="0"/>
              <a:t>`, before the target address.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dirty="0"/>
              <a:t>Other options visible in the help include `-</a:t>
            </a:r>
            <a:r>
              <a:rPr dirty="0" err="1"/>
              <a:t>sC</a:t>
            </a:r>
            <a:r>
              <a:rPr dirty="0"/>
              <a:t>` for default scripts and `-O` for operating-system detection. They should only be used when appropriate and authori</a:t>
            </a:r>
            <a:r>
              <a:rPr lang="en-US" dirty="0"/>
              <a:t>z</a:t>
            </a:r>
            <a:r>
              <a:rPr dirty="0"/>
              <a:t>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CYBERSECURITY SIWES • WEEK 6 • 5/12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995BEE-0ED0-4D5A-BD0E-54E462992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769" y="719093"/>
            <a:ext cx="3477846" cy="38060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6F5EBD-7027-A3A5-8CD2-744B85755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340" y="719093"/>
            <a:ext cx="3367875" cy="38060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78F696-AC70-9ADE-6FD4-F8C57C81B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330" y="4635062"/>
            <a:ext cx="4922947" cy="2104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5. Scan command and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Screenshot 3: limited TCP scan of the instructor-provided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671" y="1847541"/>
            <a:ext cx="6918959" cy="3162917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rPr dirty="0"/>
              <a:t>Command shown: `</a:t>
            </a:r>
            <a:r>
              <a:rPr dirty="0" err="1"/>
              <a:t>nmap</a:t>
            </a:r>
            <a:r>
              <a:rPr dirty="0"/>
              <a:t> -</a:t>
            </a:r>
            <a:r>
              <a:rPr dirty="0" err="1"/>
              <a:t>sT</a:t>
            </a:r>
            <a:r>
              <a:rPr dirty="0"/>
              <a:t> -</a:t>
            </a:r>
            <a:r>
              <a:rPr dirty="0" err="1"/>
              <a:t>Pn</a:t>
            </a:r>
            <a:r>
              <a:rPr dirty="0"/>
              <a:t> -p 80,443 172.67.155.107`.</a:t>
            </a:r>
          </a:p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rPr dirty="0"/>
              <a:t>`-</a:t>
            </a:r>
            <a:r>
              <a:rPr dirty="0" err="1"/>
              <a:t>sT</a:t>
            </a:r>
            <a:r>
              <a:rPr dirty="0"/>
              <a:t>` asks Nmap to use a TCP connect scan. `-</a:t>
            </a:r>
            <a:r>
              <a:rPr dirty="0" err="1"/>
              <a:t>Pn</a:t>
            </a:r>
            <a:r>
              <a:rPr dirty="0"/>
              <a:t>` skips the usual host discovery step, which is useful when discovery probes might not receive replies.</a:t>
            </a:r>
          </a:p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rPr dirty="0"/>
              <a:t>`-p 80,443` tells Nmap to examine only ports 80 and 443, commonly associated with HTTP and HTTPS respectively.</a:t>
            </a:r>
          </a:p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rPr dirty="0"/>
              <a:t>The output reports the host as up and lists both selected ports as `filtered`.</a:t>
            </a:r>
          </a:p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rPr dirty="0"/>
              <a:t>Interpretation: Nmap did not receive enough information to decide whether those ports were open or closed. Filtering, firewall rules, or other network conditions may explain the result.</a:t>
            </a:r>
          </a:p>
          <a:p>
            <a:pPr>
              <a:spcAft>
                <a:spcPts val="800"/>
              </a:spcAft>
              <a:defRPr sz="1500" b="0">
                <a:solidFill>
                  <a:srgbClr val="E2E8F0"/>
                </a:solidFill>
                <a:latin typeface="Aptos"/>
              </a:defRPr>
            </a:pPr>
            <a:r>
              <a:rPr dirty="0"/>
              <a:t>The result is a point-in-time observation. It is not evidence by itself that the target is vulnerable or that the web service is unavailable to all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CYBERSECURITY SIWES • WEEK 6 • 6/12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D31EE8-5C74-E18D-9C15-EEB9C295E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630" y="1847541"/>
            <a:ext cx="4922947" cy="2843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6. Understanding the result: “filtered”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16152"/>
            <a:ext cx="10972800" cy="4583819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Open: Nmap receives a response indicating that an application is accepting connections on the port.</a:t>
            </a:r>
          </a:p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Closed: Nmap can reach the target, but no application is listening on that port; the host typically responds that the connection is refused.</a:t>
            </a:r>
          </a:p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Filtered: a firewall, access-control rule, or network condition blocks or interferes with probes, so Nmap cannot reliably determine open versus closed.</a:t>
            </a:r>
          </a:p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For this scan, ports 80/</a:t>
            </a:r>
            <a:r>
              <a:rPr sz="2400" dirty="0" err="1"/>
              <a:t>tcp</a:t>
            </a:r>
            <a:r>
              <a:rPr sz="2400" dirty="0"/>
              <a:t> and 443/</a:t>
            </a:r>
            <a:r>
              <a:rPr sz="2400" dirty="0" err="1"/>
              <a:t>tcp</a:t>
            </a:r>
            <a:r>
              <a:rPr sz="2400" dirty="0"/>
              <a:t> are both reported as filtered. Therefore, the correct conclusion is that their states could not be determined from this scan.</a:t>
            </a:r>
          </a:p>
          <a:p>
            <a:pPr>
              <a:spcAft>
                <a:spcPts val="800"/>
              </a:spcAft>
              <a:defRPr sz="1700" b="0">
                <a:solidFill>
                  <a:srgbClr val="E2E8F0"/>
                </a:solidFill>
                <a:latin typeface="Aptos"/>
              </a:defRPr>
            </a:pPr>
            <a:r>
              <a:rPr sz="2400" dirty="0"/>
              <a:t>Do not conclude that Axia</a:t>
            </a:r>
            <a:r>
              <a:rPr lang="en-US" sz="2400" dirty="0"/>
              <a:t> </a:t>
            </a:r>
            <a:r>
              <a:rPr sz="2400" dirty="0"/>
              <a:t>Hub has an open port, a closed port, or a confirmed vulnerability based only on these lines. Further testing would require explicit authori</a:t>
            </a:r>
            <a:r>
              <a:rPr lang="en-US" sz="2400" dirty="0"/>
              <a:t>z</a:t>
            </a:r>
            <a:r>
              <a:rPr sz="2400" dirty="0"/>
              <a:t>ation and suitable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6053" y="6473952"/>
            <a:ext cx="20425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rPr dirty="0"/>
              <a:t>CYBERSECURITY SIWES • WEEK </a:t>
            </a:r>
            <a:r>
              <a:rPr lang="en-US" dirty="0"/>
              <a:t>7 </a:t>
            </a:r>
            <a:r>
              <a:rPr dirty="0"/>
              <a:t>• 7/12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7. Saving output and learning from a syntax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Screenshot 4: why the first output command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4800600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The screenshot shows `nmap -oN 172.67.155.107` and Nmap reports that no targets were specified.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Reason: `-oN` expects a filename argument. Without a filename, the IP address is interpreted as the output filename rather than as the scan target.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Correct syntax for a limited, authorised scan: `nmap -sT -Pn -p 80,443 -oN axiahub_scan.txt 172.67.155.107`.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In this corrected command, `axiahub_scan.txt` is the output file and the final argument is the target IP.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Learning point: read command-line options carefully, check error messages, and verify that output files contain the expected command, target, timestamp and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CYBERSECURITY SIWES • WEEK 6 • 8/12</a:t>
            </a:r>
          </a:p>
        </p:txBody>
      </p:sp>
      <p:pic>
        <p:nvPicPr>
          <p:cNvPr id="6" name="Picture 5" descr="Screensho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420624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8. Practice scans versus target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Why the target must be labelled correctly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1649682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dirty="0"/>
              <a:t>Earlier practice screenshots included scans of `127.0.0.1` (localhost) and `192.168.2.20` (a private-network address).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dirty="0"/>
              <a:t>`127.0.0.1` refers to the local machine itself. A result from localhost describes the Kali environment, not Axia</a:t>
            </a:r>
            <a:r>
              <a:rPr lang="en-US" dirty="0"/>
              <a:t> </a:t>
            </a:r>
            <a:r>
              <a:rPr dirty="0"/>
              <a:t>Hub.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rPr dirty="0"/>
              <a:t>`192.168.2.20` is a private IPv4 address. Unless a lab specifically maps that address to an authori</a:t>
            </a:r>
            <a:r>
              <a:rPr lang="en-US" dirty="0"/>
              <a:t>z</a:t>
            </a:r>
            <a:r>
              <a:rPr dirty="0"/>
              <a:t>ed target, its scan result must not be presented as a scan of the public Axia</a:t>
            </a:r>
            <a:r>
              <a:rPr lang="en-US" dirty="0"/>
              <a:t> </a:t>
            </a:r>
            <a:r>
              <a:rPr dirty="0"/>
              <a:t>Hub target.</a:t>
            </a:r>
            <a:endParaRPr lang="en-US" dirty="0"/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CYBERSECURITY SIWES • WEEK 6 • 9/12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9. Evidence quality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What the screenshots prove—and what they do not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4800600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Supported by the screenshots: Nmap 7.92 was available; the help menu was consulted; a command was attempted to save output; and a scan of 172.67.155.107 reported ports 80 and 443 as filtered.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Not supported by the screenshots: successful exploitation, proof of a vulnerability, proof that a service is open, or a complete assessment of AxiaHub’s security.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The Nmap help screenshots show available options, not completed scans using every option listed.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An IP address supplied by an instructor is treated as the lab target for this report; the screenshots alone do not independently establish ownership of the IP or the full network scope.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Evidence should be time-stamped, legible and labelled. Keep raw output and record the exact command so another person can understand and reproduce the authorised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CYBERSECURITY SIWES • WEEK 6 • 10/12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10. Recommendations and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Practical improvements based on the limited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4800600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For the organisation or system owner: review firewall and access-control rules for intended HTTP/HTTPS exposure; confirm that public web services are configured as intended; and monitor logs for unexpected connection attempts.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For the analyst: confirm written scope before scanning; use the smallest necessary port range; record the exact command and time; and avoid interpreting `filtered` as a vulnerability.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For the lab workflow: verify DNS/target information where appropriate, check command syntax, save output with `-oN`, and distinguish target scans from localhost/private-network practice scans.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Skills gained: using Nmap help, choosing basic scan options, interpreting port-state output, correcting an output-file syntax error, and documenting uncertainty.</a:t>
            </a:r>
          </a:p>
          <a:p>
            <a:pPr>
              <a:spcAft>
                <a:spcPts val="800"/>
              </a:spcAft>
              <a:defRPr sz="1600" b="0">
                <a:solidFill>
                  <a:srgbClr val="E2E8F0"/>
                </a:solidFill>
                <a:latin typeface="Aptos"/>
              </a:defRPr>
            </a:pPr>
            <a:r>
              <a:t>These recommendations are general and do not imply that a vulnerability was found in AxiaHub.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CYBERSECURITY SIWES • WEEK 6 • 11/12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11. Conclusion and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D4B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972800" cy="2983381"/>
          </a:xfrm>
          <a:prstGeom prst="rect">
            <a:avLst/>
          </a:prstGeom>
          <a:noFill/>
        </p:spPr>
        <p:txBody>
          <a:bodyPr wrap="square" lIns="109728" tIns="73152" rIns="109728" bIns="36576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E2E8F0"/>
                </a:solidFill>
                <a:latin typeface="Aptos"/>
              </a:defRPr>
            </a:pPr>
            <a:r>
              <a:rPr dirty="0"/>
              <a:t>The project combined public-source OSINT with a limited Nmap exercise using the IP address supplied for the lab.</a:t>
            </a:r>
          </a:p>
          <a:p>
            <a:pPr>
              <a:spcAft>
                <a:spcPts val="800"/>
              </a:spcAft>
              <a:defRPr sz="2000" b="0">
                <a:solidFill>
                  <a:srgbClr val="E2E8F0"/>
                </a:solidFill>
                <a:latin typeface="Aptos"/>
              </a:defRPr>
            </a:pPr>
            <a:r>
              <a:rPr dirty="0"/>
              <a:t>Public pages provided </a:t>
            </a:r>
            <a:r>
              <a:rPr dirty="0" err="1"/>
              <a:t>organisational</a:t>
            </a:r>
            <a:r>
              <a:rPr dirty="0"/>
              <a:t> context, while the Nmap output showed the host as up and ports 80 and 443 as filtered.</a:t>
            </a:r>
          </a:p>
          <a:p>
            <a:pPr>
              <a:spcAft>
                <a:spcPts val="800"/>
              </a:spcAft>
              <a:defRPr sz="2000" b="0">
                <a:solidFill>
                  <a:srgbClr val="E2E8F0"/>
                </a:solidFill>
                <a:latin typeface="Aptos"/>
              </a:defRPr>
            </a:pPr>
            <a:r>
              <a:rPr dirty="0"/>
              <a:t>The key technical lesson is that filtered ports do not reveal whether a port is open or closed. The key professional lesson is to stay within scope and report only what the evidence supports.</a:t>
            </a:r>
          </a:p>
          <a:p>
            <a:pPr>
              <a:spcAft>
                <a:spcPts val="800"/>
              </a:spcAft>
              <a:defRPr sz="2000" b="0">
                <a:solidFill>
                  <a:srgbClr val="E2E8F0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2000" b="0">
                <a:solidFill>
                  <a:srgbClr val="E2E8F0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CYBERSECURITY SIWES • WEEK 6 • 12/12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D38765-9C6F-A69B-CD5B-4F5B61848ABB}"/>
              </a:ext>
            </a:extLst>
          </p:cNvPr>
          <p:cNvSpPr/>
          <p:nvPr/>
        </p:nvSpPr>
        <p:spPr>
          <a:xfrm>
            <a:off x="2087217" y="983974"/>
            <a:ext cx="7653131" cy="4293704"/>
          </a:xfrm>
          <a:prstGeom prst="roundRect">
            <a:avLst/>
          </a:prstGeom>
          <a:gradFill flip="none" rotWithShape="1">
            <a:gsLst>
              <a:gs pos="17000">
                <a:schemeClr val="accent1">
                  <a:lumMod val="16000"/>
                  <a:lumOff val="84000"/>
                  <a:alpha val="31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rect">
              <a:fillToRect r="100000" b="100000"/>
            </a:path>
            <a:tileRect l="-100000" t="-100000"/>
          </a:gra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6937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58</TotalTime>
  <Words>1563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Opadotun</cp:lastModifiedBy>
  <cp:revision>3</cp:revision>
  <dcterms:created xsi:type="dcterms:W3CDTF">2013-01-27T09:14:16Z</dcterms:created>
  <dcterms:modified xsi:type="dcterms:W3CDTF">2026-10-23T11:03:27Z</dcterms:modified>
  <cp:category/>
</cp:coreProperties>
</file>